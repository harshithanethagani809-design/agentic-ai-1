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0A2540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•  Types  •  Workflow  •  Metrics  •  Code  •  Pros &amp; Cons  •  Conclusion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📘  Definition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280160"/>
          </a:xfrm>
          <a:prstGeom prst="rect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is a supervised machine learning algorithm that models the relationship between a dependent variable (output) and one or more independent variables (input features) by fitting a linear equation to observed data.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65760" y="2331720"/>
            <a:ext cx="8412480" cy="7315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377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Equation:   ŷ  =  β₀  +  β₁x₁  +  β₂x₂  +  ...  +  βₙxₙ  +  ε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33756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output (dependent variable)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β₀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3749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(bias term)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333756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29184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β₁…βₙ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7492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for each feature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840480"/>
            <a:ext cx="25603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ε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74920" y="37490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/ residual term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Types of Linear Regression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06240" cy="4251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7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04672"/>
            <a:ext cx="4206240" cy="5669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8229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Simple Linear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input feature predicts one output variable.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901952"/>
            <a:ext cx="391363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901952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=  β₀  +  β₁x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93192" y="2615184"/>
            <a:ext cx="256032" cy="256032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" y="259689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257860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output  (e.g. exam score)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3192" y="3026664"/>
            <a:ext cx="256032" cy="256032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3192" y="300837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99008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feature  (e.g. study hours)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93192" y="3438144"/>
            <a:ext cx="256032" cy="256032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" y="341985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β₀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4015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— value of y when x = 0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3192" y="3849624"/>
            <a:ext cx="256032" cy="256032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" y="383133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β₁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81304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Slope — change in y per unit of 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4251960"/>
            <a:ext cx="3913632" cy="502920"/>
          </a:xfrm>
          <a:prstGeom prst="rect">
            <a:avLst/>
          </a:prstGeom>
          <a:solidFill>
            <a:srgbClr val="E8F4FD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42702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Example:  Study Hours → Exam Score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709160" y="804672"/>
            <a:ext cx="4206240" cy="4251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09160" y="804672"/>
            <a:ext cx="420624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8229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Multiple Linear Regression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46320" y="1463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input features together predict one output.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901952"/>
            <a:ext cx="3913632" cy="5029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901952"/>
            <a:ext cx="3913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 =  β₀ + β₁x₁ + β₂x₂ + … + βₙxₙ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4873752" y="2615184"/>
            <a:ext cx="34747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59689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x₁…xₙ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303520" y="257860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input features (e.g. hours, sleep)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873752" y="3026664"/>
            <a:ext cx="34747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300837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β₁…βₙ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303520" y="299008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 for each feature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873752" y="3438144"/>
            <a:ext cx="34747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73752" y="341985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β₀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303520" y="340156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 — baseline value of y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73752" y="3849624"/>
            <a:ext cx="347472" cy="25603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3831336"/>
            <a:ext cx="347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303520" y="3813048"/>
            <a:ext cx="3429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input features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4846320" y="4251960"/>
            <a:ext cx="3913632" cy="502920"/>
          </a:xfrm>
          <a:prstGeom prst="rect">
            <a:avLst/>
          </a:prstGeom>
          <a:solidFill>
            <a:srgbClr val="E0F7FA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42702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7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Example:  Hours + Sleep + Marks → Score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79392" y="2560320"/>
            <a:ext cx="502920" cy="502920"/>
          </a:xfrm>
          <a:prstGeom prst="ellipse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79392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ML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594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6128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93268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13898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relevant dataset with features &amp; target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212848"/>
            <a:ext cx="594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53288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2688" y="230428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7614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encode, normalize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584448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584448"/>
            <a:ext cx="594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90448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367588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41330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distributions, correlations, outliers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841248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841248"/>
            <a:ext cx="594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16128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58968" y="93268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58968" y="13898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80/20 split of the dataset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212848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212848"/>
            <a:ext cx="594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53288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58968" y="230428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58968" y="27614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linear regression on training data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584448"/>
            <a:ext cx="41605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584448"/>
            <a:ext cx="594360" cy="11887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3904488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58968" y="3675888"/>
            <a:ext cx="3429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458968" y="4133088"/>
            <a:ext cx="3429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MAE, MSE, RMSE, R² score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Evaluation Metrics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1993392" cy="54864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82296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1993392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20240"/>
            <a:ext cx="1828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= (1/n) Σ |yᵢ - ŷᵢ|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63347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difference. Less sensitive to outliers.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04872" y="822960"/>
            <a:ext cx="1993392" cy="5486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82296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404872" y="1371600"/>
            <a:ext cx="1993392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96312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496312" y="1920240"/>
            <a:ext cx="1828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96312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(1/n) Σ (yᵢ - ŷᵢ)²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496312" y="263347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Penalizes large errors more. Always ≥ 0.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81144" y="822960"/>
            <a:ext cx="1993392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1144" y="82296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581144" y="1371600"/>
            <a:ext cx="1993392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72584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Squared Error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72584" y="1920240"/>
            <a:ext cx="1828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72584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√MSE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672584" y="263347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units as target. Most interpretable.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757416" y="822960"/>
            <a:ext cx="1993392" cy="5486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57416" y="822960"/>
            <a:ext cx="19933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757416" y="1371600"/>
            <a:ext cx="1993392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48CA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48856" y="1417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R-Squared Score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848856" y="1920240"/>
            <a:ext cx="18288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48856" y="19202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1 - (SS_res / SS_tot)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48856" y="2633472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6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explained. Best = 1.0.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 — Gradient Descent from Scratch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120640" cy="4251960"/>
          </a:xfrm>
          <a:prstGeom prst="rect">
            <a:avLst/>
          </a:prstGeom>
          <a:solidFill>
            <a:srgbClr val="1E2D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79552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960120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0040" y="1106424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252728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np.array([1,2,3,4,5], dtype=float)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399032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np.array([60,70,80,90,100], dtype=float)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" y="1545336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= 0  ;  c = 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691640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learning_rate = 0.01  ;  epochs = 1000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1837944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len(x)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1984248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2130552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in range(epochs):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2276856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y_pred = m * x + 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0040" y="2423160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 = y - y_pred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2569464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mse = np.mean(error ** 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20040" y="2715768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dm = (-2/n) * np.sum(x * error)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0040" y="2862072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dc = (-2/n) * np.sum(error)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3008376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m - learning_rate * dm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3154680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 = c - learning_rate * dc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3300984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i % 100 == 0: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3447288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print(f'Epoch {i}')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0040" y="3593592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print(f'MSE = {mse:.2f}')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" y="3739896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print(f'm = {m:.2f}, c = {c:.2f}')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3886200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print('----------------------')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0040" y="4032504"/>
            <a:ext cx="48920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print(f'y = {m:.2f}x + {c:.2f}')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777240"/>
            <a:ext cx="3383280" cy="4251960"/>
          </a:xfrm>
          <a:prstGeom prst="rect">
            <a:avLst/>
          </a:prstGeom>
          <a:solidFill>
            <a:srgbClr val="0D1E3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777240"/>
            <a:ext cx="3383280" cy="347472"/>
          </a:xfrm>
          <a:prstGeom prst="rect">
            <a:avLst/>
          </a:prstGeom>
          <a:solidFill>
            <a:srgbClr val="0A3A2A"/>
          </a:solidFill>
          <a:ln w="12700">
            <a:solidFill>
              <a:srgbClr val="0A3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96128" y="79552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Output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596128" y="1207008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0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5596128" y="1353312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6137.02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596128" y="1472184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596128" y="1495044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100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596128" y="1641348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11.78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596128" y="1760220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596128" y="1783080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200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596128" y="1929384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0.21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596128" y="2048256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596128" y="2071116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300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596128" y="221742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0.00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596128" y="2336292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596128" y="2359152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400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596128" y="2505456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0.00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596128" y="2624328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5596128" y="2647188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500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5596128" y="2793492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0.00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596128" y="2912364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596128" y="2935224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600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5596128" y="3081528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0.00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596128" y="3200400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596128" y="3223260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700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5596128" y="3369564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0.00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5596128" y="3488436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596128" y="3511296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800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5596128" y="3657600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0.00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596128" y="3776472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96128" y="3799332"/>
            <a:ext cx="320040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900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596128" y="3945636"/>
            <a:ext cx="32004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0.00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596128" y="4064508"/>
            <a:ext cx="32004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A4A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----------------------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5532120" y="4572000"/>
            <a:ext cx="3383280" cy="457200"/>
          </a:xfrm>
          <a:prstGeom prst="rect">
            <a:avLst/>
          </a:prstGeom>
          <a:solidFill>
            <a:srgbClr val="0D1B2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577840" y="4590288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Best Fit Line:  y = 10.00x + 50.00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Code — Metrics with sklearn  +  Output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120640" cy="4251960"/>
          </a:xfrm>
          <a:prstGeom prst="rect">
            <a:avLst/>
          </a:prstGeom>
          <a:solidFill>
            <a:srgbClr val="1E2D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2608" y="79552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103327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sklearn.metrics import (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9329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r2_score,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35331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mean_absolute_error,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51333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mean_squared_error)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167335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183337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199339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y_actual = np.array([500,300,700,450,600])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15341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y_pred   = np.array([480,320,690,460,590])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231343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247345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How much variance is explained?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63347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 = r2_score(y_actual, y_pred)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20040" y="279349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20040" y="295351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Avg absolute error (ignores +/-)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0040" y="311353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  = mean_absolute_error(y_actual, y_pred)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" y="327355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0040" y="343357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9F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Penalises large errors more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0040" y="359359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rmse = np.sqrt(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375361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mean_squared_error(y_actual, y_pred))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391363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20040" y="4073652"/>
            <a:ext cx="4892040" cy="1600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D5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print(f'R2={r2:.4f}  MAE={mae:.1f}  RMSE={rmse:.1f}')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777240"/>
            <a:ext cx="33832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777240"/>
            <a:ext cx="338328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8046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596128" y="1188720"/>
            <a:ext cx="324612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23560" y="1207008"/>
            <a:ext cx="3200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0EE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R²=0.9771   MAE=14.0   RMSE=15.7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1847088"/>
            <a:ext cx="91440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77840" y="184708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77840" y="225856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0.9771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565392" y="1847088"/>
            <a:ext cx="2286000" cy="822960"/>
          </a:xfrm>
          <a:prstGeom prst="rect">
            <a:avLst/>
          </a:prstGeom>
          <a:solidFill>
            <a:srgbClr val="EEF6FF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01968" y="1892808"/>
            <a:ext cx="22128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97.7% of variance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explained — excellent fit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577840" y="2871216"/>
            <a:ext cx="914400" cy="82296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2871216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77840" y="3282696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14.0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565392" y="2871216"/>
            <a:ext cx="2286000" cy="822960"/>
          </a:xfrm>
          <a:prstGeom prst="rect">
            <a:avLst/>
          </a:prstGeom>
          <a:solidFill>
            <a:srgbClr val="EEF6FF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01968" y="2916936"/>
            <a:ext cx="22128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off by ±14 units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outliers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577840" y="3895344"/>
            <a:ext cx="914400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77840" y="3895344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577840" y="4306824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15.7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65392" y="3895344"/>
            <a:ext cx="2286000" cy="822960"/>
          </a:xfrm>
          <a:prstGeom prst="rect">
            <a:avLst/>
          </a:prstGeom>
          <a:solidFill>
            <a:srgbClr val="EE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601968" y="3941064"/>
            <a:ext cx="221284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&gt; MAE means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larger errors exist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577840" y="4645152"/>
            <a:ext cx="3273552" cy="347472"/>
          </a:xfrm>
          <a:prstGeom prst="rect">
            <a:avLst/>
          </a:prstGeom>
          <a:solidFill>
            <a:srgbClr val="FFF3CD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466344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B4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&gt; MAE  →  a few larger prediction errors exist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Advantages vs Disadvantages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3977640" cy="502920"/>
          </a:xfrm>
          <a:prstGeom prst="rect">
            <a:avLst/>
          </a:prstGeom>
          <a:solidFill>
            <a:srgbClr val="0BB578"/>
          </a:solidFill>
          <a:ln w="12700">
            <a:solidFill>
              <a:srgbClr val="0BB5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977640" cy="566928"/>
          </a:xfrm>
          <a:prstGeom prst="rect">
            <a:avLst/>
          </a:prstGeom>
          <a:solidFill>
            <a:srgbClr val="E8FFF6"/>
          </a:solidFill>
          <a:ln w="12700">
            <a:solidFill>
              <a:srgbClr val="0BB5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38988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B578"/>
                </a:solidFill>
              </a:rPr>
              <a:t>✔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3898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to interpret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029968"/>
            <a:ext cx="3977640" cy="566928"/>
          </a:xfrm>
          <a:prstGeom prst="rect">
            <a:avLst/>
          </a:prstGeom>
          <a:solidFill>
            <a:srgbClr val="E8FFF6"/>
          </a:solidFill>
          <a:ln w="12700">
            <a:solidFill>
              <a:srgbClr val="0BB5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04825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B578"/>
                </a:solidFill>
              </a:rPr>
              <a:t>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04825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efficient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3977640" cy="566928"/>
          </a:xfrm>
          <a:prstGeom prst="rect">
            <a:avLst/>
          </a:prstGeom>
          <a:solidFill>
            <a:srgbClr val="E8FFF6"/>
          </a:solidFill>
          <a:ln w="12700">
            <a:solidFill>
              <a:srgbClr val="0BB5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70662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B578"/>
                </a:solidFill>
              </a:rPr>
              <a:t>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70662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on linearly separable data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74320" y="3346704"/>
            <a:ext cx="3977640" cy="566928"/>
          </a:xfrm>
          <a:prstGeom prst="rect">
            <a:avLst/>
          </a:prstGeom>
          <a:solidFill>
            <a:srgbClr val="E8FFF6"/>
          </a:solidFill>
          <a:ln w="12700">
            <a:solidFill>
              <a:srgbClr val="0BB5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336499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B578"/>
                </a:solidFill>
              </a:rPr>
              <a:t>✔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3649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feature importance via coefficients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74320" y="4005072"/>
            <a:ext cx="3977640" cy="566928"/>
          </a:xfrm>
          <a:prstGeom prst="rect">
            <a:avLst/>
          </a:prstGeom>
          <a:solidFill>
            <a:srgbClr val="E8FFF6"/>
          </a:solidFill>
          <a:ln w="12700">
            <a:solidFill>
              <a:srgbClr val="0BB5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40233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B578"/>
                </a:solidFill>
              </a:rPr>
              <a:t>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023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variance — less overfitting risk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92040" y="804672"/>
            <a:ext cx="3977640" cy="50292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80467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Disadvantages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92040" y="1371600"/>
            <a:ext cx="39776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389888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✖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285232" y="1389888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relationship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892040" y="2029968"/>
            <a:ext cx="39776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048256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✖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85232" y="204825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to outliers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892040" y="2688336"/>
            <a:ext cx="39776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2706624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85232" y="270662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causes instability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892040" y="3346704"/>
            <a:ext cx="39776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364992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285232" y="336499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Underfits complex patterns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4892040" y="4005072"/>
            <a:ext cx="3977640" cy="566928"/>
          </a:xfrm>
          <a:prstGeom prst="rect">
            <a:avLst/>
          </a:prstGeom>
          <a:solidFill>
            <a:srgbClr val="FFF0F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40233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✖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85232" y="40233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normality &amp; homoscedasticity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0A254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286000" cy="228600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315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256032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61872"/>
            <a:ext cx="813816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371600"/>
            <a:ext cx="347472" cy="34747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716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7452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 measures how well the model explains the data.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813816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048256"/>
            <a:ext cx="347472" cy="347472"/>
          </a:xfrm>
          <a:prstGeom prst="ellipse">
            <a:avLst/>
          </a:prstGeom>
          <a:solidFill>
            <a:srgbClr val="90EE90"/>
          </a:solidFill>
          <a:ln w="12700">
            <a:solidFill>
              <a:srgbClr val="90EE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4825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011680"/>
            <a:ext cx="7452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calculates the average prediction error.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615184"/>
            <a:ext cx="813816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FFD5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FFD580"/>
          </a:solidFill>
          <a:ln w="12700">
            <a:solidFill>
              <a:srgbClr val="FFD5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688336"/>
            <a:ext cx="7452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measures prediction error and gives more importance to large mistakes.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13816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6928" y="3401568"/>
            <a:ext cx="347472" cy="347472"/>
          </a:xfrm>
          <a:prstGeom prst="ellipse">
            <a:avLst/>
          </a:prstGeom>
          <a:solidFill>
            <a:srgbClr val="A8D8EA"/>
          </a:solidFill>
          <a:ln w="12700">
            <a:solidFill>
              <a:srgbClr val="A8D8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4015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364992"/>
            <a:ext cx="7452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metrics are used to evaluate model performance.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68496"/>
            <a:ext cx="8138160" cy="566928"/>
          </a:xfrm>
          <a:prstGeom prst="rect">
            <a:avLst/>
          </a:prstGeom>
          <a:solidFill>
            <a:srgbClr val="0A254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4078224"/>
            <a:ext cx="347472" cy="34747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7822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041648"/>
            <a:ext cx="7452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MAE and RMSE and higher R² indicate a better model.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0" y="475488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2803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subject>PptxGenJS Presentation</dc:subject>
  <dc:creator>PptxGenJS</dc:creator>
  <cp:lastModifiedBy>PptxGenJS</cp:lastModifiedBy>
  <cp:revision>1</cp:revision>
  <dcterms:created xsi:type="dcterms:W3CDTF">2026-06-05T05:28:56Z</dcterms:created>
  <dcterms:modified xsi:type="dcterms:W3CDTF">2026-06-05T05:28:56Z</dcterms:modified>
</cp:coreProperties>
</file>