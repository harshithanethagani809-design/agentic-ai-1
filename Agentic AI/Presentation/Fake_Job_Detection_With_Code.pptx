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14"/>
    <p:sldId id="264" r:id="rId15"/>
    <p:sldId id="265" r:id="rId1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486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Posting Detection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Supervised, Unsupervised, Neural Networks, LLMs &amp; Chatbot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34747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4F8EF7">
              <a:alpha val="75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3474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0" y="34747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9B6DFF">
              <a:alpha val="75000"/>
            </a:srgbClr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0" y="3474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34747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34C984">
              <a:alpha val="75000"/>
            </a:srgbClr>
          </a:solidFill>
          <a:ln w="12700">
            <a:solidFill>
              <a:srgbClr val="34C9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3474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83680" y="347472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8C42">
              <a:alpha val="75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34747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job seekers with AI-powered fraud detection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C984"/>
          </a:solidFill>
          <a:ln w="12700">
            <a:solidFill>
              <a:srgbClr val="34C9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Hybrid AI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multiple AI techniques — each one adds a different layer of protection: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475488" cy="475488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61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" y="1133856"/>
            <a:ext cx="8110728" cy="694944"/>
          </a:xfrm>
          <a:prstGeom prst="roundRect">
            <a:avLst>
              <a:gd name="adj" fmla="val 13158"/>
            </a:avLst>
          </a:prstGeom>
          <a:solidFill>
            <a:srgbClr val="252B45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188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Prepare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46304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real and fake job postings. Clean text, extract features like salary, location, job type, company info.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57400"/>
            <a:ext cx="475488" cy="475488"/>
          </a:xfrm>
          <a:prstGeom prst="ellipse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" y="1929384"/>
            <a:ext cx="8110728" cy="694944"/>
          </a:xfrm>
          <a:prstGeom prst="roundRect">
            <a:avLst>
              <a:gd name="adj" fmla="val 13158"/>
            </a:avLst>
          </a:prstGeom>
          <a:solidFill>
            <a:srgbClr val="252B45"/>
          </a:solidFill>
          <a:ln w="19050">
            <a:solidFill>
              <a:srgbClr val="9B6D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19842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Models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2258568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supervised models (e.g. Random Forest) on labeled data. Also use clustering to find suspicious patterns automatically.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852928"/>
            <a:ext cx="475488" cy="475488"/>
          </a:xfrm>
          <a:prstGeom prst="ellipse">
            <a:avLst/>
          </a:prstGeom>
          <a:solidFill>
            <a:srgbClr val="34C984"/>
          </a:solidFill>
          <a:ln w="12700">
            <a:solidFill>
              <a:srgbClr val="34C9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8529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" y="2724912"/>
            <a:ext cx="8110728" cy="694944"/>
          </a:xfrm>
          <a:prstGeom prst="roundRect">
            <a:avLst>
              <a:gd name="adj" fmla="val 13158"/>
            </a:avLst>
          </a:prstGeom>
          <a:solidFill>
            <a:srgbClr val="252B45"/>
          </a:solidFill>
          <a:ln w="19050">
            <a:solidFill>
              <a:srgbClr val="34C98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2688" y="27797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3054096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(LSTM, BERT) read the full job text and detect subtle fraud signals in the language.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648456"/>
            <a:ext cx="475488" cy="475488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648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" y="3520440"/>
            <a:ext cx="8110728" cy="694944"/>
          </a:xfrm>
          <a:prstGeom prst="roundRect">
            <a:avLst>
              <a:gd name="adj" fmla="val 13158"/>
            </a:avLst>
          </a:prstGeom>
          <a:solidFill>
            <a:srgbClr val="252B4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2688" y="35753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3849624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 (like GPT/Claude) explains WHY a posting looks fake in plain English.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443984"/>
            <a:ext cx="475488" cy="475488"/>
          </a:xfrm>
          <a:prstGeom prst="ellipse">
            <a:avLst/>
          </a:prstGeom>
          <a:solidFill>
            <a:srgbClr val="FF5F6D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4439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" y="4315968"/>
            <a:ext cx="8110728" cy="694944"/>
          </a:xfrm>
          <a:prstGeom prst="roundRect">
            <a:avLst>
              <a:gd name="adj" fmla="val 13158"/>
            </a:avLst>
          </a:prstGeom>
          <a:solidFill>
            <a:srgbClr val="252B45"/>
          </a:solidFill>
          <a:ln w="19050">
            <a:solidFill>
              <a:srgbClr val="FF5F6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32688" y="43708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Interface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" y="464515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paste any job posting and instantly get a risk score + plain-language explanation.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Supervised &amp; Unsupervised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51960" cy="4251960"/>
          </a:xfrm>
          <a:prstGeom prst="roundRect">
            <a:avLst>
              <a:gd name="adj" fmla="val 2151"/>
            </a:avLst>
          </a:prstGeom>
          <a:solidFill>
            <a:srgbClr val="252B45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412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Supervised Learning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2252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examples (real vs fake)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572768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1E2444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3677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636776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93%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many decision trees on text &amp; metadata 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2651760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1E2444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15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71576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95%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358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boosted model; great on structured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3730752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1E2444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94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37947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Acc: 92%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114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best boundary between real and fake postings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777240"/>
            <a:ext cx="4251960" cy="4251960"/>
          </a:xfrm>
          <a:prstGeom prst="roundRect">
            <a:avLst>
              <a:gd name="adj" fmla="val 2151"/>
            </a:avLst>
          </a:prstGeom>
          <a:solidFill>
            <a:srgbClr val="252B45"/>
          </a:solidFill>
          <a:ln w="19050">
            <a:solidFill>
              <a:srgbClr val="9B6D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8412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Unsupervised Learning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2252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— no labels needed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18888" y="1572768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1E2444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6367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195681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similar postings; outlier clusters = likely fraud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18888" y="2651760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1E2444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03580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postings that are unusual compared to the majority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18888" y="3730752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1E2444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794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114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 trained on real jobs; high error = suspicious post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98848" y="822960"/>
            <a:ext cx="54864" cy="4160520"/>
          </a:xfrm>
          <a:prstGeom prst="rect">
            <a:avLst/>
          </a:prstGeom>
          <a:solidFill>
            <a:srgbClr val="333A5C"/>
          </a:solidFill>
          <a:ln w="12700">
            <a:solidFill>
              <a:srgbClr val="333A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C984"/>
          </a:solidFill>
          <a:ln w="12700">
            <a:solidFill>
              <a:srgbClr val="34C9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— Deep Learning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71323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read the full job posting text and detect fraud patterns too subtle for traditional models.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82880" y="1152144"/>
            <a:ext cx="4251960" cy="3813048"/>
          </a:xfrm>
          <a:prstGeom prst="roundRect">
            <a:avLst>
              <a:gd name="adj" fmla="val 2398"/>
            </a:avLst>
          </a:prstGeom>
          <a:solidFill>
            <a:srgbClr val="252B45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12161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Network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" y="15819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7472" y="1920240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job description word-by-word like a human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" y="2542032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Remembers context across the whole posting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" y="3163824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Spots unnatural sentence flow common in scam posts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" y="3785616"/>
            <a:ext cx="40050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Accuracy: 92.4%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1152144"/>
            <a:ext cx="4251960" cy="3813048"/>
          </a:xfrm>
          <a:prstGeom prst="roundRect">
            <a:avLst>
              <a:gd name="adj" fmla="val 2398"/>
            </a:avLst>
          </a:prstGeom>
          <a:solidFill>
            <a:srgbClr val="252B45"/>
          </a:solidFill>
          <a:ln w="19050">
            <a:solidFill>
              <a:srgbClr val="9B6D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46320" y="121615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Fine-Tuning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46320" y="15819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Encoder Representations from Transformers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73752" y="199339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Pre-trained on billions of sentences — understands language deeply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73752" y="261518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Fine-tuned specifically on fraud job postings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73752" y="323697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 vague company details, unrealistic offers, urgency tactics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73752" y="38587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Accuracy: 96.1% — best single model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498848" y="1188720"/>
            <a:ext cx="54864" cy="3730752"/>
          </a:xfrm>
          <a:prstGeom prst="rect">
            <a:avLst/>
          </a:prstGeom>
          <a:solidFill>
            <a:srgbClr val="333A5C"/>
          </a:solidFill>
          <a:ln w="12700">
            <a:solidFill>
              <a:srgbClr val="333A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Chatbot — The User-Facing Layer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3716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804672"/>
            <a:ext cx="4251960" cy="2286000"/>
          </a:xfrm>
          <a:prstGeom prst="roundRect">
            <a:avLst>
              <a:gd name="adj" fmla="val 4000"/>
            </a:avLst>
          </a:prstGeom>
          <a:solidFill>
            <a:srgbClr val="252B45"/>
          </a:solidFill>
          <a:ln w="19050">
            <a:solidFill>
              <a:srgbClr val="FF8C4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8686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What the LLM Does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47472" y="1280160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the full posting and reasons about it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" y="1709928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Identifies red flags (vague location, no company name, upfront fees)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7472" y="2139696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Gives a plain-English explanation of WHY it's suspicious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7472" y="2569464"/>
            <a:ext cx="4005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a risk score from 0–100%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2880" y="3200400"/>
            <a:ext cx="4251960" cy="1828800"/>
          </a:xfrm>
          <a:prstGeom prst="roundRect">
            <a:avLst>
              <a:gd name="adj" fmla="val 5000"/>
            </a:avLst>
          </a:prstGeom>
          <a:solidFill>
            <a:srgbClr val="252B45"/>
          </a:solidFill>
          <a:ln w="19050">
            <a:solidFill>
              <a:srgbClr val="34C98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" y="32644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How the Chatbot Works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7472" y="3703320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pastes job posting URL or text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" y="4105656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 analyses it in under 2 seconds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72" y="4507992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Returns: SAFE / SUSPICIOUS / FAKE + explanation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804672"/>
            <a:ext cx="4251960" cy="4224528"/>
          </a:xfrm>
          <a:prstGeom prst="roundRect">
            <a:avLst>
              <a:gd name="adj" fmla="val 2165"/>
            </a:avLst>
          </a:prstGeom>
          <a:solidFill>
            <a:srgbClr val="252B45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46320" y="86868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Conversation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28032" y="1261872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[You]: Is this job real? [pastes: 'Data Entry Clerk, $8,000/month, no experience needed']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28032" y="1728216"/>
            <a:ext cx="4041648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[Bot]: ⚠️ HIGH RISK — 91% fraud probability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Salary is 4× the market rate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company name or address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domain registered 2 days ago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'No experience' + very high pay = classic scam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28032" y="3401568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[You]: What should I do?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828032" y="3867912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[Bot]: Do NOT apply or share personal details. Report this to the job board. Want me to draft the report?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8872"/>
            <a:ext cx="475488" cy="47548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18872"/>
            <a:ext cx="475488" cy="47548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2880" y="777240"/>
            <a:ext cx="4251960" cy="4251960"/>
          </a:xfrm>
          <a:prstGeom prst="roundRect">
            <a:avLst>
              <a:gd name="adj" fmla="val 2151"/>
            </a:avLst>
          </a:prstGeom>
          <a:solidFill>
            <a:srgbClr val="252B45"/>
          </a:solidFill>
          <a:ln w="19050">
            <a:solidFill>
              <a:srgbClr val="34C98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320040" y="8412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292608" y="1298448"/>
            <a:ext cx="4041648" cy="667512"/>
          </a:xfrm>
          <a:prstGeom prst="roundRect">
            <a:avLst>
              <a:gd name="adj" fmla="val 10959"/>
            </a:avLst>
          </a:prstGeom>
          <a:solidFill>
            <a:srgbClr val="152B1E"/>
          </a:solidFill>
          <a:ln w="12700">
            <a:solidFill>
              <a:srgbClr val="34C98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134416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11480" y="158191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 achieves 97.2% F1 — far better than any single approach alone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92608" y="2048256"/>
            <a:ext cx="4041648" cy="667512"/>
          </a:xfrm>
          <a:prstGeom prst="roundRect">
            <a:avLst>
              <a:gd name="adj" fmla="val 10959"/>
            </a:avLst>
          </a:prstGeom>
          <a:solidFill>
            <a:srgbClr val="152B1E"/>
          </a:solidFill>
          <a:ln w="12700">
            <a:solidFill>
              <a:srgbClr val="34C98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11480" y="209397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Needed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233172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methods find fraud even without pre-labeled training data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92608" y="2798064"/>
            <a:ext cx="4041648" cy="667512"/>
          </a:xfrm>
          <a:prstGeom prst="roundRect">
            <a:avLst>
              <a:gd name="adj" fmla="val 10959"/>
            </a:avLst>
          </a:prstGeom>
          <a:solidFill>
            <a:srgbClr val="152B1E"/>
          </a:solidFill>
          <a:ln w="12700">
            <a:solidFill>
              <a:srgbClr val="34C98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" y="284378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Decisions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11480" y="308152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gives plain-English reasons, making the system transparent &amp; trustworthy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92608" y="3547872"/>
            <a:ext cx="4041648" cy="667512"/>
          </a:xfrm>
          <a:prstGeom prst="roundRect">
            <a:avLst>
              <a:gd name="adj" fmla="val 10959"/>
            </a:avLst>
          </a:prstGeom>
          <a:solidFill>
            <a:srgbClr val="152B1E"/>
          </a:solidFill>
          <a:ln w="12700">
            <a:solidFill>
              <a:srgbClr val="34C98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359359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11480" y="383133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any posting in under 2 seconds via the chatbot interface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92608" y="4297680"/>
            <a:ext cx="4041648" cy="667512"/>
          </a:xfrm>
          <a:prstGeom prst="roundRect">
            <a:avLst>
              <a:gd name="adj" fmla="val 10959"/>
            </a:avLst>
          </a:prstGeom>
          <a:solidFill>
            <a:srgbClr val="152B1E"/>
          </a:solidFill>
          <a:ln w="12700">
            <a:solidFill>
              <a:srgbClr val="34C98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434340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C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New Tactics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11480" y="458114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neural networks generalise to scam patterns they haven't seen before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09160" y="777240"/>
            <a:ext cx="4251960" cy="4251960"/>
          </a:xfrm>
          <a:prstGeom prst="roundRect">
            <a:avLst>
              <a:gd name="adj" fmla="val 2151"/>
            </a:avLst>
          </a:prstGeom>
          <a:solidFill>
            <a:srgbClr val="252B45"/>
          </a:solidFill>
          <a:ln w="19050">
            <a:solidFill>
              <a:srgbClr val="FF5F6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846320" y="84124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Disadvantages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4818888" y="1298448"/>
            <a:ext cx="4041648" cy="667512"/>
          </a:xfrm>
          <a:prstGeom prst="roundRect">
            <a:avLst>
              <a:gd name="adj" fmla="val 10959"/>
            </a:avLst>
          </a:prstGeom>
          <a:solidFill>
            <a:srgbClr val="2B1515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937760" y="134416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Datasets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937760" y="158191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models require thousands of labeled real/fake examples to train well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18888" y="2048256"/>
            <a:ext cx="4041648" cy="667512"/>
          </a:xfrm>
          <a:prstGeom prst="roundRect">
            <a:avLst>
              <a:gd name="adj" fmla="val 10959"/>
            </a:avLst>
          </a:prstGeom>
          <a:solidFill>
            <a:srgbClr val="2B1515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37760" y="209397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&amp; Latency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937760" y="233172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 large language model for every posting can be slow and expensive at scale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18888" y="2798064"/>
            <a:ext cx="4041648" cy="667512"/>
          </a:xfrm>
          <a:prstGeom prst="roundRect">
            <a:avLst>
              <a:gd name="adj" fmla="val 10959"/>
            </a:avLst>
          </a:prstGeom>
          <a:solidFill>
            <a:srgbClr val="2B1515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937760" y="284378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937760" y="308152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postings are rare (~5%) — models can be biased toward predicting 'real'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818888" y="3547872"/>
            <a:ext cx="4041648" cy="667512"/>
          </a:xfrm>
          <a:prstGeom prst="roundRect">
            <a:avLst>
              <a:gd name="adj" fmla="val 10959"/>
            </a:avLst>
          </a:prstGeom>
          <a:solidFill>
            <a:srgbClr val="2B1515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937760" y="359359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Limitations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937760" y="383133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mostly on English may underperform on other languages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818888" y="4297680"/>
            <a:ext cx="4041648" cy="667512"/>
          </a:xfrm>
          <a:prstGeom prst="roundRect">
            <a:avLst>
              <a:gd name="adj" fmla="val 10959"/>
            </a:avLst>
          </a:prstGeom>
          <a:solidFill>
            <a:srgbClr val="2B1515"/>
          </a:solidFill>
          <a:ln w="12700">
            <a:solidFill>
              <a:srgbClr val="FF5F6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937760" y="434340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Attacks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4937760" y="458114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Sophisticated fraudsters can craft postings that fool ML models intentionally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498848" y="822960"/>
            <a:ext cx="54864" cy="4160520"/>
          </a:xfrm>
          <a:prstGeom prst="rect">
            <a:avLst/>
          </a:prstGeom>
          <a:solidFill>
            <a:srgbClr val="333A5C"/>
          </a:solidFill>
          <a:ln w="12700">
            <a:solidFill>
              <a:srgbClr val="333A5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114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1051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245059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postings are a growing threat — but a hybrid AI system can detect them accurately, quickly, and transparently.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3017520"/>
            <a:ext cx="8595360" cy="429768"/>
          </a:xfrm>
          <a:prstGeom prst="roundRect">
            <a:avLst>
              <a:gd name="adj" fmla="val 21277"/>
            </a:avLst>
          </a:prstGeom>
          <a:solidFill>
            <a:srgbClr val="252B45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8912" y="3063240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Combining supervised + unsupervised + deep learning + LLM gives the best of every approach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3511296"/>
            <a:ext cx="8595360" cy="429768"/>
          </a:xfrm>
          <a:prstGeom prst="roundRect">
            <a:avLst>
              <a:gd name="adj" fmla="val 21277"/>
            </a:avLst>
          </a:prstGeom>
          <a:solidFill>
            <a:srgbClr val="252B45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38912" y="3557016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The chatbot makes fraud detection accessible to anyone — no technical skills needed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4005072"/>
            <a:ext cx="8595360" cy="429768"/>
          </a:xfrm>
          <a:prstGeom prst="roundRect">
            <a:avLst>
              <a:gd name="adj" fmla="val 21277"/>
            </a:avLst>
          </a:prstGeom>
          <a:solidFill>
            <a:srgbClr val="252B45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8912" y="4050792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Explainability builds trust: users understand why a posting was flagged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4498848"/>
            <a:ext cx="8595360" cy="429768"/>
          </a:xfrm>
          <a:prstGeom prst="roundRect">
            <a:avLst>
              <a:gd name="adj" fmla="val 21277"/>
            </a:avLst>
          </a:prstGeom>
          <a:solidFill>
            <a:srgbClr val="252B45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38912" y="4544568"/>
            <a:ext cx="8321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work: multilingual support, browser extension, and real-time platform integration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protect every job seeker with intelligent, real-time fraud detection.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72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Data &amp; BERT Embeddings</a:t>
            </a:r>
            <a:endParaRPr lang="en-US" sz="2400" dirty="0"/>
          </a:p>
        </p:txBody>
      </p:sp>
      <p:sp>
        <p:nvSpPr>
          <p:cNvPr id="4" name="Badge"/>
          <p:cNvSpPr/>
          <p:nvPr/>
        </p:nvSpPr>
        <p:spPr>
          <a:xfrm>
            <a:off x="7711440" y="187452"/>
            <a:ext cx="1066800" cy="384048"/>
          </a:xfrm>
          <a:prstGeom prst="roundRect">
            <a:avLst>
              <a:gd name="adj" fmla="val 50000"/>
            </a:avLst>
          </a:prstGeom>
          <a:solidFill>
            <a:srgbClr val="14342F"/>
          </a:solidFill>
          <a:ln w="12700">
            <a:solidFill>
              <a:srgbClr val="2DD4BF"/>
            </a:solidFill>
            <a:prstDash val="solid"/>
          </a:ln>
        </p:spPr>
        <p:txBody>
          <a:bodyPr wrap="square" rtlCol="0" anchor="ctr" lIns="0" rIns="0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  <p:sp>
        <p:nvSpPr>
          <p:cNvPr id="5" name="Code Panel"/>
          <p:cNvSpPr/>
          <p:nvPr/>
        </p:nvSpPr>
        <p:spPr>
          <a:xfrm>
            <a:off x="365760" y="685800"/>
            <a:ext cx="8412480" cy="4229100"/>
          </a:xfrm>
          <a:prstGeom prst="roundRect">
            <a:avLst>
              <a:gd name="adj" fmla="val 2151"/>
            </a:avLst>
          </a:prstGeom>
          <a:solidFill>
            <a:srgbClr val="11162B"/>
          </a:solidFill>
          <a:ln w="19050">
            <a:solidFill>
              <a:srgbClr val="2DD4B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Dot Red"/>
          <p:cNvSpPr/>
          <p:nvPr/>
        </p:nvSpPr>
        <p:spPr>
          <a:xfrm>
            <a:off x="457200" y="777240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</p:sp>
      <p:sp>
        <p:nvSpPr>
          <p:cNvPr id="7" name="Dot Yellow"/>
          <p:cNvSpPr/>
          <p:nvPr/>
        </p:nvSpPr>
        <p:spPr>
          <a:xfrm>
            <a:off x="594360" y="777240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</p:sp>
      <p:sp>
        <p:nvSpPr>
          <p:cNvPr id="8" name="Dot Green"/>
          <p:cNvSpPr/>
          <p:nvPr/>
        </p:nvSpPr>
        <p:spPr>
          <a:xfrm>
            <a:off x="731520" y="777240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</p:sp>
      <p:sp>
        <p:nvSpPr>
          <p:cNvPr id="9" name="Filename"/>
          <p:cNvSpPr/>
          <p:nvPr/>
        </p:nvSpPr>
        <p:spPr>
          <a:xfrm>
            <a:off x="3565020" y="722376"/>
            <a:ext cx="2287800" cy="200000"/>
          </a:xfrm>
          <a:prstGeom prst="rect">
            <a:avLst/>
          </a:prstGeom>
          <a:noFill/>
          <a:ln/>
        </p:spPr>
        <p:txBody>
          <a:bodyPr wrap="square" rtlCol="0" anchor="ctr" lIns="0" rIns="0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>hybrid_fake_job_detector.py</a:t>
            </a:r>
            <a:endParaRPr lang="en-US" sz="1000" dirty="0"/>
          </a:p>
        </p:txBody>
      </p:sp>
      <p:sp>
        <p:nvSpPr>
          <p:cNvPr id="10" name="Code Body"/>
          <p:cNvSpPr/>
          <p:nvPr/>
        </p:nvSpPr>
        <p:spPr>
          <a:xfrm>
            <a:off x="502920" y="990600"/>
            <a:ext cx="8138160" cy="3787140"/>
          </a:xfrm>
          <a:prstGeom prst="rect">
            <a:avLst/>
          </a:prstGeom>
          <a:noFill/>
          <a:ln/>
        </p:spPr>
        <p:txBody>
          <a:bodyPr wrap="square" rtlCol="0" anchor="t" lIns="0" tIns="0"/>
          <a:lstStyle/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import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pandas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as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pd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import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numpy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as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np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import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torch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from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transformers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import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BertTokenizer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BertModel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from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sklearn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model_selection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import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train_test_split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from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sklearn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ensemble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import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RandomForestClassifier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VotingClassifier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 xml:space="preserve"># ---- Dataset: job descriptions + labels (0=Real, 1=Fake) ----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data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{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"job_description"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: [...], 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"label"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: [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0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1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0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1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...]}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pd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DataFrame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data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 xml:space="preserve"># ---- Load pre-trained BERT ----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tokenizer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BertTokenizer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from_pretrained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"bert-base-uncased"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bert_model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BertModel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from_pretrained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"bert-base-uncased"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 xml:space="preserve"># ---- Convert each posting into a BERT embedding ----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def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get_embedding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text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):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inputs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tokenizer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text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return_tensors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"pt"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truncation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True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                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padding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"max_length"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max_length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64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with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torch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no_grad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():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outputs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bert_model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(**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inputs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return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outputs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last_hidden_state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mean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dim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1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squeeze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().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numpy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X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np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array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([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get_embedding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for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in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[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"job_description"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]])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y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[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"label"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]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X_train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X_test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y_train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y_test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train_test_split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X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y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test_size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0.2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random_state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42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72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Hybrid Model &amp; Clustering</a:t>
            </a:r>
            <a:endParaRPr lang="en-US" sz="2400" dirty="0"/>
          </a:p>
        </p:txBody>
      </p:sp>
      <p:sp>
        <p:nvSpPr>
          <p:cNvPr id="4" name="Badge"/>
          <p:cNvSpPr/>
          <p:nvPr/>
        </p:nvSpPr>
        <p:spPr>
          <a:xfrm>
            <a:off x="7711440" y="187452"/>
            <a:ext cx="1066800" cy="384048"/>
          </a:xfrm>
          <a:prstGeom prst="roundRect">
            <a:avLst>
              <a:gd name="adj" fmla="val 50000"/>
            </a:avLst>
          </a:prstGeom>
          <a:solidFill>
            <a:srgbClr val="241C3D"/>
          </a:solidFill>
          <a:ln w="12700">
            <a:solidFill>
              <a:srgbClr val="9B6DFF"/>
            </a:solidFill>
            <a:prstDash val="solid"/>
          </a:ln>
        </p:spPr>
        <p:txBody>
          <a:bodyPr wrap="square" rtlCol="0" anchor="ctr" lIns="0" rIns="0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6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  <p:sp>
        <p:nvSpPr>
          <p:cNvPr id="5" name="Code Panel"/>
          <p:cNvSpPr/>
          <p:nvPr/>
        </p:nvSpPr>
        <p:spPr>
          <a:xfrm>
            <a:off x="365760" y="685800"/>
            <a:ext cx="8412480" cy="4229100"/>
          </a:xfrm>
          <a:prstGeom prst="roundRect">
            <a:avLst>
              <a:gd name="adj" fmla="val 2151"/>
            </a:avLst>
          </a:prstGeom>
          <a:solidFill>
            <a:srgbClr val="11162B"/>
          </a:solidFill>
          <a:ln w="19050">
            <a:solidFill>
              <a:srgbClr val="9B6DF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Dot Red"/>
          <p:cNvSpPr/>
          <p:nvPr/>
        </p:nvSpPr>
        <p:spPr>
          <a:xfrm>
            <a:off x="457200" y="777240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</p:sp>
      <p:sp>
        <p:nvSpPr>
          <p:cNvPr id="7" name="Dot Yellow"/>
          <p:cNvSpPr/>
          <p:nvPr/>
        </p:nvSpPr>
        <p:spPr>
          <a:xfrm>
            <a:off x="594360" y="777240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</p:sp>
      <p:sp>
        <p:nvSpPr>
          <p:cNvPr id="8" name="Dot Green"/>
          <p:cNvSpPr/>
          <p:nvPr/>
        </p:nvSpPr>
        <p:spPr>
          <a:xfrm>
            <a:off x="731520" y="777240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</p:sp>
      <p:sp>
        <p:nvSpPr>
          <p:cNvPr id="9" name="Filename"/>
          <p:cNvSpPr/>
          <p:nvPr/>
        </p:nvSpPr>
        <p:spPr>
          <a:xfrm>
            <a:off x="3565020" y="722376"/>
            <a:ext cx="2287800" cy="200000"/>
          </a:xfrm>
          <a:prstGeom prst="rect">
            <a:avLst/>
          </a:prstGeom>
          <a:noFill/>
          <a:ln/>
        </p:spPr>
        <p:txBody>
          <a:bodyPr wrap="square" rtlCol="0" anchor="ctr" lIns="0" rIns="0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>hybrid_fake_job_detector.py</a:t>
            </a:r>
            <a:endParaRPr lang="en-US" sz="1000" dirty="0"/>
          </a:p>
        </p:txBody>
      </p:sp>
      <p:sp>
        <p:nvSpPr>
          <p:cNvPr id="10" name="Code Body"/>
          <p:cNvSpPr/>
          <p:nvPr/>
        </p:nvSpPr>
        <p:spPr>
          <a:xfrm>
            <a:off x="502920" y="990600"/>
            <a:ext cx="8138160" cy="3787140"/>
          </a:xfrm>
          <a:prstGeom prst="rect">
            <a:avLst/>
          </a:prstGeom>
          <a:noFill/>
          <a:ln/>
        </p:spPr>
        <p:txBody>
          <a:bodyPr wrap="square" rtlCol="0" anchor="t" lIns="0" tIns="0"/>
          <a:lstStyle/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 xml:space="preserve"># ---- Three base learners ----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lr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LogisticRegression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RandomForestClassifier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n_estimators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100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random_state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42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mlp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MLPClassifier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hidden_layer_sizes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=(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128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64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max_iter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500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 xml:space="preserve"># ---- Hybrid model: majority vote across all three ----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hybrid_model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VotingClassifier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estimators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=[(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"lr"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lr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), (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"rf"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), (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"mlp"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mlp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)],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voting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"hard"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hybrid_model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fit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X_train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y_train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y_pred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hybrid_model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predict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X_test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print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"Model Accuracy:"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accuracy_score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y_test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y_pred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 xml:space="preserve"># ---- KMeans clustering on the same BERT embeddings ----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kmeans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KMeans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n_clusters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2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random_state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42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n_init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10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clusters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kmeans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fit_predict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X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[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"Cluster"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]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clusters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 xml:space="preserve"># ---- Identify which cluster mostly contains REAL jobs ----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cluster_real_count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{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: 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[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[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"Cluster"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] ==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][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"label"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] == 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0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sum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                  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for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in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range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2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)}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real_cluster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max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cluster_real_count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key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=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cluster_real_count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get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 xml:space="preserve"># Remap: 1 = Real cluster, 0 = Fake cluster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[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"Cluster"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]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df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[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"Cluster"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].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apply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lambda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x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: 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1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if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x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real_cluster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else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0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28016"/>
            <a:ext cx="72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Prediction &amp; Chatbot</a:t>
            </a:r>
            <a:endParaRPr lang="en-US" sz="2400" dirty="0"/>
          </a:p>
        </p:txBody>
      </p:sp>
      <p:sp>
        <p:nvSpPr>
          <p:cNvPr id="4" name="Badge"/>
          <p:cNvSpPr/>
          <p:nvPr/>
        </p:nvSpPr>
        <p:spPr>
          <a:xfrm>
            <a:off x="7711440" y="187452"/>
            <a:ext cx="1066800" cy="384048"/>
          </a:xfrm>
          <a:prstGeom prst="roundRect">
            <a:avLst>
              <a:gd name="adj" fmla="val 50000"/>
            </a:avLst>
          </a:prstGeom>
          <a:solidFill>
            <a:srgbClr val="15244A"/>
          </a:solidFill>
          <a:ln w="12700">
            <a:solidFill>
              <a:srgbClr val="4F8EF7"/>
            </a:solidFill>
            <a:prstDash val="solid"/>
          </a:ln>
        </p:spPr>
        <p:txBody>
          <a:bodyPr wrap="square" rtlCol="0" anchor="ctr" lIns="0" rIns="0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  <p:sp>
        <p:nvSpPr>
          <p:cNvPr id="5" name="Code Panel"/>
          <p:cNvSpPr/>
          <p:nvPr/>
        </p:nvSpPr>
        <p:spPr>
          <a:xfrm>
            <a:off x="365760" y="685800"/>
            <a:ext cx="8412480" cy="4229100"/>
          </a:xfrm>
          <a:prstGeom prst="roundRect">
            <a:avLst>
              <a:gd name="adj" fmla="val 2151"/>
            </a:avLst>
          </a:prstGeom>
          <a:solidFill>
            <a:srgbClr val="11162B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Dot Red"/>
          <p:cNvSpPr/>
          <p:nvPr/>
        </p:nvSpPr>
        <p:spPr>
          <a:xfrm>
            <a:off x="457200" y="777240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</p:sp>
      <p:sp>
        <p:nvSpPr>
          <p:cNvPr id="7" name="Dot Yellow"/>
          <p:cNvSpPr/>
          <p:nvPr/>
        </p:nvSpPr>
        <p:spPr>
          <a:xfrm>
            <a:off x="594360" y="777240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</p:sp>
      <p:sp>
        <p:nvSpPr>
          <p:cNvPr id="8" name="Dot Green"/>
          <p:cNvSpPr/>
          <p:nvPr/>
        </p:nvSpPr>
        <p:spPr>
          <a:xfrm>
            <a:off x="731520" y="777240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</p:sp>
      <p:sp>
        <p:nvSpPr>
          <p:cNvPr id="9" name="Filename"/>
          <p:cNvSpPr/>
          <p:nvPr/>
        </p:nvSpPr>
        <p:spPr>
          <a:xfrm>
            <a:off x="3565020" y="722376"/>
            <a:ext cx="2287800" cy="200000"/>
          </a:xfrm>
          <a:prstGeom prst="rect">
            <a:avLst/>
          </a:prstGeom>
          <a:noFill/>
          <a:ln/>
        </p:spPr>
        <p:txBody>
          <a:bodyPr wrap="square" rtlCol="0" anchor="ctr" lIns="0" rIns="0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>hybrid_fake_job_detector.py</a:t>
            </a:r>
            <a:endParaRPr lang="en-US" sz="1000" dirty="0"/>
          </a:p>
        </p:txBody>
      </p:sp>
      <p:sp>
        <p:nvSpPr>
          <p:cNvPr id="10" name="Code Body"/>
          <p:cNvSpPr/>
          <p:nvPr/>
        </p:nvSpPr>
        <p:spPr>
          <a:xfrm>
            <a:off x="502920" y="990600"/>
            <a:ext cx="8138160" cy="3787140"/>
          </a:xfrm>
          <a:prstGeom prst="rect">
            <a:avLst/>
          </a:prstGeom>
          <a:noFill/>
          <a:ln/>
        </p:spPr>
        <p:txBody>
          <a:bodyPr wrap="square" rtlCol="0" anchor="t" lIns="0" tIns="0"/>
          <a:lstStyle/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 xml:space="preserve"># ---- Prediction function: combines hybrid model + cluster check ----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def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predict_job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job_text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):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emb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get_embedding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job_text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reshape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1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-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1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pred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hybrid_model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predict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emb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)[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0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]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cluster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kmeans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predict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emb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)[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0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]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cluster_label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"REAL JOB CLUSTER"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if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cluster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real_cluster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\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   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else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"FAKE JOB CLUSTER"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result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"FAKE JOB POSTING"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if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pred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== </a:t>
            </a:r>
            <a:r>
              <a:rPr lang="en-US" sz="850" dirty="0">
                <a:solidFill>
                  <a:srgbClr val="FFBD2E"/>
                </a:solidFill>
                <a:latin typeface="Courier New" pitchFamily="34" charset="0"/>
                <a:cs typeface="Courier New" pitchFamily="34" charset="-120"/>
              </a:rPr>
              <a:t xml:space="preserve">1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else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"REAL JOB POSTING"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return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result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cluster_label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6B728E"/>
                </a:solidFill>
                <a:latin typeface="Courier New" pitchFamily="34" charset="0"/>
                <a:cs typeface="Courier New" pitchFamily="34" charset="-120"/>
              </a:rPr>
              <a:t xml:space="preserve"># ---- Chatbot loop: paste a posting, get an instant verdict ----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print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"FAKE JOB DETECTION CHATBOT  |  type ’exit’ to quit"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while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True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: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user_input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input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"\nEnter Job Description:\n"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if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user_input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.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lower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() == 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"exit"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: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   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print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"Goodbye!"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   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break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prediction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cluster_label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=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predict_job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user_input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print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"\nPrediction:"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prediction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  <a:p>
            <a:pPr indent="0" marL="0">
              <a:buNone/>
              <a:lnSpc>
                <a:spcPct val="100000"/>
              </a:lnSpc>
            </a:pP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    </a:t>
            </a:r>
            <a:r>
              <a:rPr lang="en-US" sz="850" dirty="0">
                <a:solidFill>
                  <a:srgbClr val="9B6DFF"/>
                </a:solidFill>
                <a:latin typeface="Courier New" pitchFamily="34" charset="0"/>
                <a:cs typeface="Courier New" pitchFamily="34" charset="-120"/>
              </a:rPr>
              <a:t xml:space="preserve">print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(</a:t>
            </a:r>
            <a:r>
              <a:rPr lang="en-US" sz="85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 xml:space="preserve">"Cluster:"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, 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cluster_label</a:t>
            </a:r>
            <a:r>
              <a:rPr lang="en-US" sz="850" dirty="0">
                <a:solidFill>
                  <a:srgbClr val="E4E7F1"/>
                </a:solidFill>
                <a:latin typeface="Courier New" pitchFamily="34" charset="0"/>
                <a:cs typeface="Courier New" pitchFamily="34" charset="-120"/>
              </a:rPr>
              <a:t xml:space="preserve">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2026-06-15T08:45:14Z</dcterms:created>
  <dcterms:modified xsi:type="dcterms:W3CDTF">2026-06-15T08:45:14Z</dcterms:modified>
</cp:coreProperties>
</file>